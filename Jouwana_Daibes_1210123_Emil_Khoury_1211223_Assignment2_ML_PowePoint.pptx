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0"/>
  </p:notesMasterIdLst>
  <p:handoutMasterIdLst>
    <p:handoutMasterId r:id="rId21"/>
  </p:handoutMasterIdLst>
  <p:sldIdLst>
    <p:sldId id="312" r:id="rId5"/>
    <p:sldId id="304" r:id="rId6"/>
    <p:sldId id="307" r:id="rId7"/>
    <p:sldId id="281" r:id="rId8"/>
    <p:sldId id="282" r:id="rId9"/>
    <p:sldId id="323" r:id="rId10"/>
    <p:sldId id="314" r:id="rId11"/>
    <p:sldId id="315" r:id="rId12"/>
    <p:sldId id="324" r:id="rId13"/>
    <p:sldId id="317" r:id="rId14"/>
    <p:sldId id="325" r:id="rId15"/>
    <p:sldId id="326" r:id="rId16"/>
    <p:sldId id="319" r:id="rId17"/>
    <p:sldId id="321" r:id="rId18"/>
    <p:sldId id="297" r:id="rId19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C6A6A"/>
    <a:srgbClr val="B8B7B6"/>
    <a:srgbClr val="B8B7B5"/>
    <a:srgbClr val="82472C"/>
    <a:srgbClr val="202C8F"/>
    <a:srgbClr val="FDFBF6"/>
    <a:srgbClr val="AAC4E9"/>
    <a:srgbClr val="F5CDCE"/>
    <a:srgbClr val="DF8C8C"/>
    <a:srgbClr val="D4D5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671A7-C32A-1981-E96B-2812DB067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859AA3-E503-17B2-7AEE-F01654F31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AD9662-071D-58A4-D770-C6A823EE7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258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71BB6-06E1-DCD8-FE53-3F835E8CD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0E251C-3302-949A-2520-83741AB98D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687C9D-7F2E-4C3A-72B8-6009F8DF1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728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7D9E8-5EB0-4E75-A9D9-FAA5D08A0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D3AFF9-83B7-BB5B-299F-A5B688A984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A2BA0D-761D-FDB5-DD66-A9FA579AD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8352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B304F-6608-8C4C-0CBF-8692121D5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66D7FD-BF27-BBDA-D2E5-88F068D50F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02A8FC-3396-AC08-42D0-F95D6CE2B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539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dirty="0">
                <a:solidFill>
                  <a:srgbClr val="9C6A6A"/>
                </a:solidFill>
              </a:rPr>
              <a:t>Assignment #2</a:t>
            </a:r>
            <a:br>
              <a:rPr lang="en-US" dirty="0">
                <a:solidFill>
                  <a:srgbClr val="9C6A6A"/>
                </a:solidFill>
              </a:rPr>
            </a:br>
            <a:r>
              <a:rPr lang="en-US" sz="2800" b="0" dirty="0">
                <a:solidFill>
                  <a:srgbClr val="9C6A6A"/>
                </a:solidFill>
              </a:rPr>
              <a:t>Machine Learning and Data Science - ENCS5341</a:t>
            </a:r>
            <a:endParaRPr lang="en-US" dirty="0">
              <a:solidFill>
                <a:srgbClr val="9C6A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Part 1 – Non-Linear Regression: </a:t>
            </a:r>
          </a:p>
          <a:p>
            <a:r>
              <a:rPr lang="en-US" sz="1800" dirty="0"/>
              <a:t>   A) </a:t>
            </a:r>
            <a:r>
              <a:rPr lang="en-US" sz="1600" dirty="0"/>
              <a:t>Generate a set S = {(𝑥⃗!, 𝑦!): 𝑖 = 1,…, 25} of 25 data points</a:t>
            </a:r>
          </a:p>
          <a:p>
            <a:r>
              <a:rPr lang="en-US" sz="1800" dirty="0"/>
              <a:t>   B) </a:t>
            </a:r>
            <a:r>
              <a:rPr lang="en-US" sz="1600" dirty="0"/>
              <a:t>Using the generated set S in part A, apply non-linear regression (without regularization) using different numbers of RBF basis functions</a:t>
            </a:r>
          </a:p>
          <a:p>
            <a:r>
              <a:rPr lang="en-US" dirty="0"/>
              <a:t>Part 2 – Logistic Regression:</a:t>
            </a:r>
          </a:p>
          <a:p>
            <a:r>
              <a:rPr lang="en-US" sz="1600" dirty="0"/>
              <a:t>    A) Logistic Regression with a linear </a:t>
            </a:r>
            <a:r>
              <a:rPr lang="en-US" sz="1600" dirty="0" err="1"/>
              <a:t>decssion</a:t>
            </a:r>
            <a:r>
              <a:rPr lang="en-US" sz="1600" dirty="0"/>
              <a:t> boundary</a:t>
            </a:r>
          </a:p>
          <a:p>
            <a:r>
              <a:rPr lang="en-US" sz="1600" dirty="0"/>
              <a:t>    B) Logistic Regression with a non-linear </a:t>
            </a:r>
            <a:r>
              <a:rPr lang="en-US" sz="1600" dirty="0" err="1"/>
              <a:t>decssion</a:t>
            </a:r>
            <a:r>
              <a:rPr lang="en-US" sz="1600" dirty="0"/>
              <a:t> boundary using</a:t>
            </a:r>
          </a:p>
          <a:p>
            <a:r>
              <a:rPr lang="en-US" sz="1600" dirty="0"/>
              <a:t>polynomial features of the following degrees: {2, 5, 9}.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601" y="807623"/>
            <a:ext cx="5723586" cy="4739104"/>
          </a:xfrm>
        </p:spPr>
        <p:txBody>
          <a:bodyPr/>
          <a:lstStyle/>
          <a:p>
            <a:r>
              <a:rPr lang="en-US" dirty="0"/>
              <a:t>Part 1 – Non-Linear Regression: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130" y="1663517"/>
            <a:ext cx="5259554" cy="2495028"/>
          </a:xfrm>
        </p:spPr>
        <p:txBody>
          <a:bodyPr/>
          <a:lstStyle/>
          <a:p>
            <a:r>
              <a:rPr lang="en-US" b="0" dirty="0"/>
              <a:t>A) Generating the dataset 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601161-D21A-5E26-68BB-FC5A4C91296C}"/>
              </a:ext>
            </a:extLst>
          </p:cNvPr>
          <p:cNvSpPr/>
          <p:nvPr/>
        </p:nvSpPr>
        <p:spPr>
          <a:xfrm>
            <a:off x="5451987" y="1268361"/>
            <a:ext cx="6302477" cy="495545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F782959-4D95-8C0A-36E3-80C6A5DD9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512" y="1608495"/>
            <a:ext cx="5837426" cy="427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Fitting Ridge regression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We used degree 9 polynomial features and try these 5 λ values:</a:t>
            </a:r>
          </a:p>
          <a:p>
            <a:pPr marL="0" indent="0">
              <a:buNone/>
            </a:pPr>
            <a:r>
              <a:rPr lang="en-US" dirty="0"/>
              <a:t>                             λ ∈ {0, 1e-12, 1e-10, 1e-8, 0.01}</a:t>
            </a:r>
          </a:p>
          <a:p>
            <a:r>
              <a:rPr lang="en-US" dirty="0"/>
              <a:t>If we only look at typical values like (0, 0.01, 0.1, 1, 10), the best model seems to be </a:t>
            </a:r>
            <a:r>
              <a:rPr lang="en-US" b="1" dirty="0"/>
              <a:t>λ = 0</a:t>
            </a:r>
            <a:r>
              <a:rPr lang="en-US" dirty="0"/>
              <a:t>.</a:t>
            </a:r>
          </a:p>
          <a:p>
            <a:r>
              <a:rPr lang="en-US" dirty="0"/>
              <a:t>But after testing very small positive values, I found that </a:t>
            </a:r>
            <a:r>
              <a:rPr lang="en-US" b="1" dirty="0"/>
              <a:t>λ = 1e-10</a:t>
            </a:r>
            <a:r>
              <a:rPr lang="en-US" dirty="0"/>
              <a:t> gives the </a:t>
            </a:r>
            <a:r>
              <a:rPr lang="en-US" b="1" dirty="0"/>
              <a:t>best generalization</a:t>
            </a:r>
            <a:r>
              <a:rPr lang="en-US" dirty="0"/>
              <a:t> to the true function in my experiment.</a:t>
            </a:r>
          </a:p>
          <a:p>
            <a:r>
              <a:rPr lang="en-US" dirty="0"/>
              <a:t>In practice, λ = 1e-10 is extremely close to 0, so the model is almost unregularized, but this tiny regularization is enough to slightly improve the error.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237EF-DBCD-E47E-4CE3-ADAF93938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52944-51B2-B37D-605C-483BAC63D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0" dirty="0"/>
              <a:t>Computing generalization error (MSE vs true function) for each </a:t>
            </a:r>
            <a:r>
              <a:rPr lang="en-US" sz="2800" dirty="0"/>
              <a:t>λ</a:t>
            </a:r>
            <a:endParaRPr lang="en-US" sz="28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8C34A-2A97-FE8F-7049-F7B0F30EC46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We used the same 5 λ values </a:t>
            </a:r>
          </a:p>
          <a:p>
            <a:r>
              <a:rPr lang="en-US" dirty="0"/>
              <a:t>If we only look at typical values like (0, 0.01, 0.1, 1, 10), the best model seems to be </a:t>
            </a:r>
            <a:r>
              <a:rPr lang="en-US" b="1" dirty="0"/>
              <a:t>λ = 0</a:t>
            </a:r>
            <a:r>
              <a:rPr lang="en-US" dirty="0"/>
              <a:t>.</a:t>
            </a:r>
          </a:p>
          <a:p>
            <a:pPr latinLnBrk="1"/>
            <a:r>
              <a:rPr lang="en-US" dirty="0"/>
              <a:t>MSE vs true function sin(5</a:t>
            </a:r>
            <a:r>
              <a:rPr lang="el-GR" dirty="0"/>
              <a:t>π</a:t>
            </a:r>
            <a:r>
              <a:rPr lang="en-US" dirty="0"/>
              <a:t>x) for each </a:t>
            </a:r>
            <a:r>
              <a:rPr lang="el-GR" dirty="0"/>
              <a:t>λ:</a:t>
            </a:r>
          </a:p>
          <a:p>
            <a:pPr lvl="1" latinLnBrk="1"/>
            <a:r>
              <a:rPr lang="el-GR" dirty="0"/>
              <a:t>λ = 0        -&gt; </a:t>
            </a:r>
            <a:r>
              <a:rPr lang="en-US" dirty="0"/>
              <a:t>MSE = 0.033519</a:t>
            </a:r>
          </a:p>
          <a:p>
            <a:pPr lvl="1" latinLnBrk="1"/>
            <a:r>
              <a:rPr lang="el-GR" dirty="0"/>
              <a:t>λ = 1</a:t>
            </a:r>
            <a:r>
              <a:rPr lang="en-US" dirty="0"/>
              <a:t>e-12    -&gt; MSE = 0.030238</a:t>
            </a:r>
          </a:p>
          <a:p>
            <a:pPr lvl="1" latinLnBrk="1"/>
            <a:r>
              <a:rPr lang="el-GR" dirty="0"/>
              <a:t>λ = 1</a:t>
            </a:r>
            <a:r>
              <a:rPr lang="en-US" dirty="0"/>
              <a:t>e-10    -&gt; MSE = 0.026710</a:t>
            </a:r>
          </a:p>
          <a:p>
            <a:pPr lvl="1" latinLnBrk="1"/>
            <a:r>
              <a:rPr lang="el-GR" dirty="0"/>
              <a:t>λ = 1</a:t>
            </a:r>
            <a:r>
              <a:rPr lang="en-US" dirty="0"/>
              <a:t>e-08    -&gt; MSE = 0.121747</a:t>
            </a:r>
          </a:p>
          <a:p>
            <a:pPr lvl="1" latinLnBrk="1"/>
            <a:r>
              <a:rPr lang="el-GR" dirty="0"/>
              <a:t>λ = 0.01     -&gt; </a:t>
            </a:r>
            <a:r>
              <a:rPr lang="en-US" dirty="0"/>
              <a:t>MSE = 0.417642</a:t>
            </a:r>
          </a:p>
          <a:p>
            <a:pPr latinLnBrk="1"/>
            <a:endParaRPr lang="en-US" dirty="0"/>
          </a:p>
          <a:p>
            <a:pPr latinLnBrk="1"/>
            <a:r>
              <a:rPr lang="en-US" dirty="0"/>
              <a:t>Best </a:t>
            </a:r>
            <a:r>
              <a:rPr lang="el-GR" dirty="0"/>
              <a:t>λ (</a:t>
            </a:r>
            <a:r>
              <a:rPr lang="en-US" dirty="0"/>
              <a:t>smallest generalization error):</a:t>
            </a:r>
          </a:p>
          <a:p>
            <a:pPr latinLnBrk="1"/>
            <a:r>
              <a:rPr lang="en-US" dirty="0"/>
              <a:t>Best </a:t>
            </a:r>
            <a:r>
              <a:rPr lang="el-GR" dirty="0"/>
              <a:t>λ = 1</a:t>
            </a:r>
            <a:r>
              <a:rPr lang="en-US" dirty="0"/>
              <a:t>e-10, MSE = 0.026710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34F973DE-9467-CA90-C2D5-6BAB18423A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697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0809" y="285114"/>
            <a:ext cx="7043617" cy="2520217"/>
          </a:xfrm>
        </p:spPr>
        <p:txBody>
          <a:bodyPr/>
          <a:lstStyle/>
          <a:p>
            <a:r>
              <a:rPr lang="en-US" sz="4400" b="0" dirty="0">
                <a:solidFill>
                  <a:srgbClr val="9C6A6A"/>
                </a:solidFill>
              </a:rPr>
              <a:t>RBF Basis Functions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DDD6BDC-E008-6AB7-55A1-46ED9BCF054F}"/>
                  </a:ext>
                </a:extLst>
              </p:cNvPr>
              <p:cNvSpPr>
                <a:spLocks noGrp="1"/>
              </p:cNvSpPr>
              <p:nvPr>
                <p:ph idx="11"/>
              </p:nvPr>
            </p:nvSpPr>
            <p:spPr>
              <a:xfrm>
                <a:off x="4110808" y="3148350"/>
                <a:ext cx="7043618" cy="288669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sz="2600" dirty="0"/>
                  <a:t>Using the generated set S in part A</a:t>
                </a:r>
              </a:p>
              <a:p>
                <a:endParaRPr lang="en-US" sz="2600" dirty="0"/>
              </a:p>
              <a:p>
                <a:r>
                  <a:rPr lang="en-US" sz="2600" dirty="0"/>
                  <a:t>- we applied non-linear regression (without regularization) using different numbers of RBF basis functions.</a:t>
                </a:r>
              </a:p>
              <a:p>
                <a:r>
                  <a:rPr lang="en-US" sz="2600" dirty="0"/>
                  <a:t>- we defined a helper function to build RBF features</a:t>
                </a:r>
              </a:p>
              <a:p>
                <a:pPr lvl="1"/>
                <a:r>
                  <a:rPr lang="en-US" sz="2600" dirty="0"/>
                  <a:t>Each RBF basis function has the form:</a:t>
                </a:r>
              </a:p>
              <a:p>
                <a:pPr marL="1252728" lvl="3" indent="0">
                  <a:buNone/>
                </a:pPr>
                <a:r>
                  <a:rPr lang="en-US" sz="2200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exp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⁡(− 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−</m:t>
                                </m:r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  </a:t>
                </a:r>
                <a:br>
                  <a:rPr lang="en-US" sz="2200" dirty="0"/>
                </a:br>
                <a:r>
                  <a:rPr lang="en-US" sz="2200" dirty="0"/>
                  <a:t>  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200" dirty="0"/>
                  <a:t> is the center of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sz="2200" dirty="0"/>
                  <a:t> RBF.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DDD6BDC-E008-6AB7-55A1-46ED9BCF05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1"/>
              </p:nvPr>
            </p:nvSpPr>
            <p:spPr>
              <a:xfrm>
                <a:off x="4110808" y="3148350"/>
                <a:ext cx="7043618" cy="2886690"/>
              </a:xfrm>
              <a:blipFill>
                <a:blip r:embed="rId3"/>
                <a:stretch>
                  <a:fillRect l="-1298" t="-5485" r="-519" b="-10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702" y="-270941"/>
            <a:ext cx="7796464" cy="1222385"/>
          </a:xfrm>
        </p:spPr>
        <p:txBody>
          <a:bodyPr/>
          <a:lstStyle/>
          <a:p>
            <a:r>
              <a:rPr lang="en-US" sz="2800" b="0" dirty="0"/>
              <a:t>Non-linear regression using RBF basis functions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05F902C6-A5F9-E2BB-1C7C-D21EBF9A5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67019" y="1087201"/>
            <a:ext cx="3470787" cy="3987441"/>
          </a:xfrm>
        </p:spPr>
        <p:txBody>
          <a:bodyPr>
            <a:normAutofit fontScale="70000" lnSpcReduction="20000"/>
          </a:bodyPr>
          <a:lstStyle/>
          <a:p>
            <a:pPr latinLnBrk="1"/>
            <a:r>
              <a:rPr lang="en-US" sz="2100" b="1" dirty="0"/>
              <a:t>MSE vs true function sin(5</a:t>
            </a:r>
            <a:r>
              <a:rPr lang="el-GR" sz="2100" b="1" dirty="0"/>
              <a:t>π</a:t>
            </a:r>
            <a:r>
              <a:rPr lang="en-US" sz="2100" b="1" dirty="0"/>
              <a:t>x) for</a:t>
            </a:r>
            <a:br>
              <a:rPr lang="en-US" sz="2100" b="1" dirty="0"/>
            </a:br>
            <a:r>
              <a:rPr lang="en-US" sz="2100" b="1" dirty="0"/>
              <a:t> different numbers of RBFs:</a:t>
            </a:r>
          </a:p>
          <a:p>
            <a:pPr marL="285750" indent="-285750" latinLnBrk="1">
              <a:buFont typeface="Wingdings" panose="05000000000000000000" pitchFamily="2" charset="2"/>
              <a:buChar char="Ø"/>
            </a:pPr>
            <a:r>
              <a:rPr lang="en-US" sz="1600" dirty="0"/>
              <a:t> 1 RBFs:  MSE = 0.490323</a:t>
            </a:r>
          </a:p>
          <a:p>
            <a:pPr marL="285750" indent="-285750" latinLnBrk="1">
              <a:buFont typeface="Wingdings" panose="05000000000000000000" pitchFamily="2" charset="2"/>
              <a:buChar char="Ø"/>
            </a:pPr>
            <a:r>
              <a:rPr lang="en-US" sz="1600" dirty="0"/>
              <a:t> 5 RBFs:  MSE = 0.314525</a:t>
            </a:r>
          </a:p>
          <a:p>
            <a:pPr marL="285750" indent="-285750" latinLnBrk="1">
              <a:buFont typeface="Wingdings" panose="05000000000000000000" pitchFamily="2" charset="2"/>
              <a:buChar char="Ø"/>
            </a:pPr>
            <a:r>
              <a:rPr lang="en-US" sz="1600" dirty="0"/>
              <a:t>10 RBFs:  MSE = 0.038104</a:t>
            </a:r>
          </a:p>
          <a:p>
            <a:pPr marL="285750" indent="-285750" latinLnBrk="1">
              <a:buFont typeface="Wingdings" panose="05000000000000000000" pitchFamily="2" charset="2"/>
              <a:buChar char="Ø"/>
            </a:pPr>
            <a:r>
              <a:rPr lang="en-US" sz="1600" dirty="0"/>
              <a:t>50 RBFs:  MSE = 172667.065698</a:t>
            </a:r>
          </a:p>
          <a:p>
            <a:pPr latinLnBrk="1"/>
            <a:endParaRPr lang="en-US" sz="1600" dirty="0"/>
          </a:p>
          <a:p>
            <a:pPr marL="285750" indent="-285750" latinLnBrk="1">
              <a:buFont typeface="Wingdings" panose="05000000000000000000" pitchFamily="2" charset="2"/>
              <a:buChar char="v"/>
            </a:pPr>
            <a:r>
              <a:rPr lang="en-US" sz="1600" dirty="0"/>
              <a:t>Best number of RBFs (smallest MSE)</a:t>
            </a:r>
            <a:br>
              <a:rPr lang="en-US" sz="1600" dirty="0"/>
            </a:br>
            <a:r>
              <a:rPr lang="en-US" sz="1600" dirty="0"/>
              <a:t> is 10.</a:t>
            </a:r>
          </a:p>
          <a:p>
            <a:pPr marL="285750" indent="-285750" latinLnBrk="1">
              <a:buFont typeface="Wingdings" panose="05000000000000000000" pitchFamily="2" charset="2"/>
              <a:buChar char="v"/>
            </a:pPr>
            <a:r>
              <a:rPr lang="en-US" sz="1600" dirty="0"/>
              <a:t>Best MSE = 0.038104</a:t>
            </a:r>
          </a:p>
          <a:p>
            <a:r>
              <a:rPr lang="en-US" sz="2300" b="1" dirty="0"/>
              <a:t>General idea: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Too few basis functions → underfitting.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Too many basis functions → overfitting.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moderate number of RBFs usually </a:t>
            </a:r>
            <a:br>
              <a:rPr lang="en-US" dirty="0"/>
            </a:br>
            <a:r>
              <a:rPr lang="en-US" dirty="0"/>
              <a:t>gives the best generalization to the true </a:t>
            </a:r>
            <a:br>
              <a:rPr lang="en-US" dirty="0"/>
            </a:br>
            <a:r>
              <a:rPr lang="en-US" dirty="0"/>
              <a:t>function.</a:t>
            </a:r>
          </a:p>
          <a:p>
            <a:pPr latinLnBrk="1"/>
            <a:endParaRPr lang="en-US" sz="1600" dirty="0"/>
          </a:p>
          <a:p>
            <a:endParaRPr lang="en-US" sz="1600" dirty="0"/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D85794BD-4353-AEA6-E703-C584F0D47639}"/>
              </a:ext>
            </a:extLst>
          </p:cNvPr>
          <p:cNvSpPr txBox="1">
            <a:spLocks/>
          </p:cNvSpPr>
          <p:nvPr/>
        </p:nvSpPr>
        <p:spPr>
          <a:xfrm>
            <a:off x="4782159" y="2303028"/>
            <a:ext cx="3763950" cy="4144192"/>
          </a:xfrm>
          <a:prstGeom prst="rect">
            <a:avLst/>
          </a:prstGeom>
        </p:spPr>
        <p:txBody>
          <a:bodyPr/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0741DC0-042F-7985-DEC5-CD8C018A7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02" y="951444"/>
            <a:ext cx="7446185" cy="583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46248-157F-B6C2-A375-F4504C456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F6C482D-ACDB-58A8-5888-26A81BFB5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Part 2 – Logistic Regression: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4CDFDA-4B6E-7FF9-ED00-2D1762DE36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C7DE83-F3A5-761C-6237-AF2C3ECD8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1710568"/>
            <a:ext cx="4517556" cy="718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AB8FAE-1964-ABC8-6D1E-E4EEAC9C73D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7620000" cy="3721817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1. Used the customer churn dataset from Assignment #1 to predict churn status using logistic regression.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2. Randomly split the dataset into:2500 training samples500 validation samples500 test samples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FC4750-248E-7B69-09EC-C27430C07044}"/>
              </a:ext>
            </a:extLst>
          </p:cNvPr>
          <p:cNvSpPr/>
          <p:nvPr/>
        </p:nvSpPr>
        <p:spPr>
          <a:xfrm>
            <a:off x="8986684" y="3429000"/>
            <a:ext cx="3205316" cy="342900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Placeholder 21">
            <a:extLst>
              <a:ext uri="{FF2B5EF4-FFF2-40B4-BE49-F238E27FC236}">
                <a16:creationId xmlns:a16="http://schemas.microsoft.com/office/drawing/2014/main" id="{B75DD148-C6B5-2C80-2685-F68A62B06A6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t="5385" b="5385"/>
          <a:stretch/>
        </p:blipFill>
        <p:spPr>
          <a:xfrm>
            <a:off x="8986685" y="3635745"/>
            <a:ext cx="3205315" cy="32222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360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840" y="941683"/>
            <a:ext cx="10284190" cy="585615"/>
          </a:xfrm>
        </p:spPr>
        <p:txBody>
          <a:bodyPr/>
          <a:lstStyle/>
          <a:p>
            <a:r>
              <a:rPr lang="en-US" b="0" dirty="0"/>
              <a:t>Fitting Logistic Regression with a linear decision boundary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41" name="Content Placeholder 40">
            <a:extLst>
              <a:ext uri="{FF2B5EF4-FFF2-40B4-BE49-F238E27FC236}">
                <a16:creationId xmlns:a16="http://schemas.microsoft.com/office/drawing/2014/main" id="{F18DC53C-F87B-E44F-8AD8-66FC40598832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/>
          <a:stretch>
            <a:fillRect/>
          </a:stretch>
        </p:blipFill>
        <p:spPr>
          <a:xfrm>
            <a:off x="723334" y="1527298"/>
            <a:ext cx="8536413" cy="521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8B53E-A564-157D-F26E-F6AA1DBC2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A4CA4-982F-DDAF-5FB9-4792AD63B2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FD3BBEE-651F-590D-2AB1-5B072FDC378C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/>
          <a:stretch>
            <a:fillRect/>
          </a:stretch>
        </p:blipFill>
        <p:spPr>
          <a:xfrm>
            <a:off x="432033" y="481630"/>
            <a:ext cx="8191106" cy="637636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213F777-5145-7F51-406F-969516A3E726}"/>
              </a:ext>
            </a:extLst>
          </p:cNvPr>
          <p:cNvSpPr/>
          <p:nvPr/>
        </p:nvSpPr>
        <p:spPr>
          <a:xfrm>
            <a:off x="8865303" y="1203768"/>
            <a:ext cx="2986268" cy="4734045"/>
          </a:xfrm>
          <a:prstGeom prst="rect">
            <a:avLst/>
          </a:prstGeom>
          <a:effectLst>
            <a:softEdge rad="1270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marR="0" lvl="0" indent="-45720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--- Training ---</a:t>
            </a:r>
          </a:p>
          <a:p>
            <a:pPr marL="457200" marR="0" lvl="0" indent="-45720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Accuracy : 0.9852</a:t>
            </a:r>
          </a:p>
          <a:p>
            <a:pPr marL="457200" marR="0" lvl="0" indent="-45720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Precision: 0.9120879120879121</a:t>
            </a:r>
          </a:p>
          <a:p>
            <a:pPr marL="457200" marR="0" lvl="0" indent="-45720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Recall   : 0.7410714285714286</a:t>
            </a:r>
          </a:p>
          <a:p>
            <a:pPr marL="457200" marR="0" lvl="0" indent="-45720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F1-score : 0.8177339901477833</a:t>
            </a:r>
          </a:p>
          <a:p>
            <a:pPr marL="457200" marR="0" lvl="0" indent="-45720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--- Validation ---</a:t>
            </a:r>
          </a:p>
          <a:p>
            <a:pPr marL="457200" marR="0" lvl="0" indent="-45720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Accuracy : 0.99</a:t>
            </a:r>
          </a:p>
          <a:p>
            <a:pPr marL="457200" marR="0" lvl="0" indent="-45720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Precision: 0.9090909090909091</a:t>
            </a:r>
          </a:p>
          <a:p>
            <a:pPr marL="457200" marR="0" lvl="0" indent="-45720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Recall   : 0.8695652173913043</a:t>
            </a:r>
          </a:p>
          <a:p>
            <a:pPr marL="457200" marR="0" lvl="0" indent="-45720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F1-score : 0.8888888888888888</a:t>
            </a:r>
          </a:p>
          <a:p>
            <a:pPr marL="457200" marR="0" lvl="0" indent="-45720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--- Test ---</a:t>
            </a:r>
          </a:p>
          <a:p>
            <a:pPr marL="457200" marR="0" lvl="0" indent="-45720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Accuracy : 0.98</a:t>
            </a:r>
          </a:p>
          <a:p>
            <a:pPr marL="457200" marR="0" lvl="0" indent="-45720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Precision: 0.875</a:t>
            </a:r>
          </a:p>
          <a:p>
            <a:pPr marL="457200" marR="0" lvl="0" indent="-45720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Recall   : 0.6363636363636364</a:t>
            </a:r>
          </a:p>
          <a:p>
            <a:pPr marL="457200" marR="0" lvl="0" indent="-45720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F2C8F"/>
                </a:solidFill>
                <a:effectLst/>
                <a:uLnTx/>
                <a:uFillTx/>
                <a:latin typeface="menlo"/>
                <a:ea typeface="+mn-ea"/>
                <a:cs typeface="+mn-cs"/>
              </a:rPr>
              <a:t>F1-score : 0.7368421052631579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F2C8F"/>
              </a:solidFill>
              <a:effectLst/>
              <a:uLnTx/>
              <a:uFillTx/>
              <a:latin typeface="Sabon Next 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2781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59116-A827-C323-E726-F3EB13C7D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5825356-8F79-8D6E-F806-F14296B2A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608" y="692943"/>
            <a:ext cx="11094418" cy="585615"/>
          </a:xfrm>
        </p:spPr>
        <p:txBody>
          <a:bodyPr/>
          <a:lstStyle/>
          <a:p>
            <a:r>
              <a:rPr lang="en-US" sz="2800" b="0" dirty="0"/>
              <a:t>Logistic Regression with a non-linear </a:t>
            </a:r>
            <a:br>
              <a:rPr lang="en-US" sz="2800" b="0" dirty="0"/>
            </a:br>
            <a:r>
              <a:rPr lang="en-US" sz="2800" b="0" dirty="0"/>
              <a:t>decision boundary using polynomial features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555AA-2EA4-D73E-E039-7D2E82F601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BF8B8A1-0665-3043-BD8C-434A1D9E0243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/>
          <a:stretch>
            <a:fillRect/>
          </a:stretch>
        </p:blipFill>
        <p:spPr>
          <a:xfrm>
            <a:off x="439838" y="1278558"/>
            <a:ext cx="9316693" cy="557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130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0" dirty="0"/>
              <a:t>Logistic Regression </a:t>
            </a:r>
            <a:br>
              <a:rPr lang="en-US" sz="5400" b="0" dirty="0"/>
            </a:br>
            <a:r>
              <a:rPr lang="en-US" sz="5400" b="0" dirty="0"/>
              <a:t>Model Evaluation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955" y="2507051"/>
            <a:ext cx="2975217" cy="370426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The logistic regression models were evaluated on the training, validation, and test sets using Accuracy, Precision, and Recall.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The results for linear and polynomial models are summarized </a:t>
            </a:r>
          </a:p>
          <a:p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DB3991E-0605-C20E-53AD-D64E13638DA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8713684"/>
              </p:ext>
            </p:extLst>
          </p:nvPr>
        </p:nvGraphicFramePr>
        <p:xfrm>
          <a:off x="3474718" y="2435931"/>
          <a:ext cx="8310881" cy="391134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87424">
                  <a:extLst>
                    <a:ext uri="{9D8B030D-6E8A-4147-A177-3AD203B41FA5}">
                      <a16:colId xmlns:a16="http://schemas.microsoft.com/office/drawing/2014/main" val="180956085"/>
                    </a:ext>
                  </a:extLst>
                </a:gridCol>
                <a:gridCol w="2280338">
                  <a:extLst>
                    <a:ext uri="{9D8B030D-6E8A-4147-A177-3AD203B41FA5}">
                      <a16:colId xmlns:a16="http://schemas.microsoft.com/office/drawing/2014/main" val="1180706872"/>
                    </a:ext>
                  </a:extLst>
                </a:gridCol>
                <a:gridCol w="2631440">
                  <a:extLst>
                    <a:ext uri="{9D8B030D-6E8A-4147-A177-3AD203B41FA5}">
                      <a16:colId xmlns:a16="http://schemas.microsoft.com/office/drawing/2014/main" val="2050154702"/>
                    </a:ext>
                  </a:extLst>
                </a:gridCol>
                <a:gridCol w="2011679">
                  <a:extLst>
                    <a:ext uri="{9D8B030D-6E8A-4147-A177-3AD203B41FA5}">
                      <a16:colId xmlns:a16="http://schemas.microsoft.com/office/drawing/2014/main" val="1872764148"/>
                    </a:ext>
                  </a:extLst>
                </a:gridCol>
              </a:tblGrid>
              <a:tr h="6195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Model / Degree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Training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Validation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Test</a:t>
                      </a:r>
                      <a:endParaRPr 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142786"/>
                  </a:ext>
                </a:extLst>
              </a:tr>
              <a:tr h="6195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Linear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Acc</a:t>
                      </a:r>
                      <a:r>
                        <a:rPr lang="en-US" sz="1600" dirty="0"/>
                        <a:t>: 0.9852</a:t>
                      </a:r>
                      <a:br>
                        <a:rPr lang="en-US" sz="1600" dirty="0"/>
                      </a:br>
                      <a:r>
                        <a:rPr lang="en-US" sz="1600" b="1" dirty="0" err="1"/>
                        <a:t>Prec</a:t>
                      </a:r>
                      <a:r>
                        <a:rPr lang="en-US" sz="1600" dirty="0"/>
                        <a:t>: 0.9121</a:t>
                      </a:r>
                    </a:p>
                    <a:p>
                      <a:pPr algn="ctr">
                        <a:buNone/>
                      </a:pPr>
                      <a:r>
                        <a:rPr lang="en-US" sz="1600" b="1" dirty="0"/>
                        <a:t>Rec</a:t>
                      </a:r>
                      <a:r>
                        <a:rPr lang="en-US" sz="1600" dirty="0"/>
                        <a:t>: 0.7411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Acc</a:t>
                      </a:r>
                      <a:r>
                        <a:rPr lang="en-US" sz="1600" dirty="0"/>
                        <a:t>: 0.992</a:t>
                      </a:r>
                    </a:p>
                    <a:p>
                      <a:pPr algn="ctr">
                        <a:buNone/>
                      </a:pPr>
                      <a:r>
                        <a:rPr lang="en-US" sz="1600" b="1" dirty="0" err="1"/>
                        <a:t>Prec</a:t>
                      </a:r>
                      <a:r>
                        <a:rPr lang="en-US" sz="1600" dirty="0"/>
                        <a:t>: 0.9130</a:t>
                      </a:r>
                    </a:p>
                    <a:p>
                      <a:pPr algn="ctr">
                        <a:buNone/>
                      </a:pPr>
                      <a:r>
                        <a:rPr lang="en-US" sz="1600" b="1" dirty="0"/>
                        <a:t>Rec</a:t>
                      </a:r>
                      <a:r>
                        <a:rPr lang="en-US" sz="1600" dirty="0"/>
                        <a:t>: 0.9130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Acc</a:t>
                      </a:r>
                      <a:r>
                        <a:rPr lang="en-US" sz="1600" dirty="0"/>
                        <a:t>: 0.980</a:t>
                      </a:r>
                    </a:p>
                    <a:p>
                      <a:pPr algn="ctr">
                        <a:buNone/>
                      </a:pPr>
                      <a:r>
                        <a:rPr lang="en-US" sz="1600" b="1" dirty="0" err="1"/>
                        <a:t>Prec</a:t>
                      </a:r>
                      <a:r>
                        <a:rPr lang="en-US" sz="1600" dirty="0"/>
                        <a:t>: 0.8750</a:t>
                      </a:r>
                    </a:p>
                    <a:p>
                      <a:pPr algn="ctr">
                        <a:buNone/>
                      </a:pPr>
                      <a:r>
                        <a:rPr lang="en-US" sz="1600" b="1" dirty="0"/>
                        <a:t>Rec</a:t>
                      </a:r>
                      <a:r>
                        <a:rPr lang="en-US" sz="1600" dirty="0"/>
                        <a:t>: 0.6364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576737"/>
                  </a:ext>
                </a:extLst>
              </a:tr>
              <a:tr h="6576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Polynomial 2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Acc</a:t>
                      </a:r>
                      <a:r>
                        <a:rPr lang="en-US" sz="1600" dirty="0"/>
                        <a:t>: 0.9844</a:t>
                      </a:r>
                    </a:p>
                    <a:p>
                      <a:pPr algn="ctr">
                        <a:buNone/>
                      </a:pPr>
                      <a:r>
                        <a:rPr lang="en-US" sz="1600" b="1" dirty="0" err="1"/>
                        <a:t>Prec</a:t>
                      </a:r>
                      <a:r>
                        <a:rPr lang="en-US" sz="1600" dirty="0"/>
                        <a:t>: 0.8763</a:t>
                      </a:r>
                    </a:p>
                    <a:p>
                      <a:pPr algn="ctr">
                        <a:buNone/>
                      </a:pPr>
                      <a:r>
                        <a:rPr lang="en-US" sz="1600" b="1" dirty="0"/>
                        <a:t>Rec</a:t>
                      </a:r>
                      <a:r>
                        <a:rPr lang="en-US" sz="1600" dirty="0"/>
                        <a:t>: 0.7589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Acc</a:t>
                      </a:r>
                      <a:r>
                        <a:rPr lang="en-US" sz="1600" dirty="0"/>
                        <a:t>: 0.986</a:t>
                      </a:r>
                    </a:p>
                    <a:p>
                      <a:pPr algn="ctr">
                        <a:buNone/>
                      </a:pPr>
                      <a:r>
                        <a:rPr lang="en-US" sz="1600" b="1" dirty="0" err="1"/>
                        <a:t>Prec</a:t>
                      </a:r>
                      <a:r>
                        <a:rPr lang="en-US" sz="1600" dirty="0"/>
                        <a:t>: 0.8333</a:t>
                      </a:r>
                    </a:p>
                    <a:p>
                      <a:pPr algn="ctr">
                        <a:buNone/>
                      </a:pPr>
                      <a:r>
                        <a:rPr lang="en-US" sz="1600" b="1" dirty="0"/>
                        <a:t>Rec</a:t>
                      </a:r>
                      <a:r>
                        <a:rPr lang="en-US" sz="1600" dirty="0"/>
                        <a:t>: 0.8696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Acc</a:t>
                      </a:r>
                      <a:r>
                        <a:rPr lang="en-US" sz="1600" dirty="0"/>
                        <a:t>: 0.982</a:t>
                      </a:r>
                    </a:p>
                    <a:p>
                      <a:pPr algn="ctr">
                        <a:buNone/>
                      </a:pPr>
                      <a:r>
                        <a:rPr lang="en-US" sz="1600" b="1" dirty="0" err="1"/>
                        <a:t>Prec</a:t>
                      </a:r>
                      <a:r>
                        <a:rPr lang="en-US" sz="1600" dirty="0"/>
                        <a:t>: 0.8421</a:t>
                      </a:r>
                    </a:p>
                    <a:p>
                      <a:pPr algn="ctr">
                        <a:buNone/>
                      </a:pPr>
                      <a:r>
                        <a:rPr lang="en-US" sz="1600" b="1" dirty="0"/>
                        <a:t>Rec</a:t>
                      </a:r>
                      <a:r>
                        <a:rPr lang="en-US" sz="1600" dirty="0"/>
                        <a:t>: 0.7273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410507"/>
                  </a:ext>
                </a:extLst>
              </a:tr>
              <a:tr h="6195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Polynomial 5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Acc</a:t>
                      </a:r>
                      <a:r>
                        <a:rPr lang="en-US" sz="1600" dirty="0"/>
                        <a:t>: 0.9972</a:t>
                      </a:r>
                    </a:p>
                    <a:p>
                      <a:pPr algn="ctr">
                        <a:buNone/>
                      </a:pPr>
                      <a:r>
                        <a:rPr lang="en-US" sz="1600" b="1" dirty="0" err="1"/>
                        <a:t>Prec</a:t>
                      </a:r>
                      <a:r>
                        <a:rPr lang="en-US" sz="1600" dirty="0"/>
                        <a:t>: 1.0000</a:t>
                      </a:r>
                    </a:p>
                    <a:p>
                      <a:pPr algn="ctr">
                        <a:buNone/>
                      </a:pPr>
                      <a:r>
                        <a:rPr lang="en-US" sz="1600" b="1" dirty="0"/>
                        <a:t>Rec</a:t>
                      </a:r>
                      <a:r>
                        <a:rPr lang="en-US" sz="1600" dirty="0"/>
                        <a:t>: 0.9375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Acc</a:t>
                      </a:r>
                      <a:r>
                        <a:rPr lang="en-US" sz="1600" dirty="0"/>
                        <a:t>: 0.992</a:t>
                      </a:r>
                    </a:p>
                    <a:p>
                      <a:pPr algn="ctr">
                        <a:buNone/>
                      </a:pPr>
                      <a:r>
                        <a:rPr lang="en-US" sz="1600" b="1" dirty="0" err="1"/>
                        <a:t>Prec</a:t>
                      </a:r>
                      <a:r>
                        <a:rPr lang="en-US" sz="1600" dirty="0"/>
                        <a:t>: 0.9524, </a:t>
                      </a:r>
                    </a:p>
                    <a:p>
                      <a:pPr algn="ctr">
                        <a:buNone/>
                      </a:pPr>
                      <a:r>
                        <a:rPr lang="en-US" sz="1600" b="1" dirty="0"/>
                        <a:t>Rec</a:t>
                      </a:r>
                      <a:r>
                        <a:rPr lang="en-US" sz="1600" dirty="0"/>
                        <a:t>: 0.8696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Acc</a:t>
                      </a:r>
                      <a:r>
                        <a:rPr lang="en-US" sz="1600" dirty="0"/>
                        <a:t>: 0.978</a:t>
                      </a:r>
                    </a:p>
                    <a:p>
                      <a:pPr algn="ctr">
                        <a:buNone/>
                      </a:pPr>
                      <a:r>
                        <a:rPr lang="en-US" sz="1600" b="1" dirty="0" err="1"/>
                        <a:t>Prec</a:t>
                      </a:r>
                      <a:r>
                        <a:rPr lang="en-US" sz="1600" dirty="0"/>
                        <a:t>: 0.7391</a:t>
                      </a:r>
                    </a:p>
                    <a:p>
                      <a:pPr algn="ctr">
                        <a:buNone/>
                      </a:pPr>
                      <a:r>
                        <a:rPr lang="en-US" sz="1600" b="1" dirty="0"/>
                        <a:t>Rec</a:t>
                      </a:r>
                      <a:r>
                        <a:rPr lang="en-US" sz="1600" dirty="0"/>
                        <a:t>: 0.7727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116840"/>
                  </a:ext>
                </a:extLst>
              </a:tr>
              <a:tr h="6195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/>
                        <a:t>Polynomial 9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Acc</a:t>
                      </a:r>
                      <a:r>
                        <a:rPr lang="en-US" sz="1600" dirty="0"/>
                        <a:t>: 1.0000</a:t>
                      </a:r>
                    </a:p>
                    <a:p>
                      <a:pPr algn="ctr">
                        <a:buNone/>
                      </a:pPr>
                      <a:r>
                        <a:rPr lang="en-US" sz="1600" b="1" dirty="0" err="1"/>
                        <a:t>Prec</a:t>
                      </a:r>
                      <a:r>
                        <a:rPr lang="en-US" sz="1600" dirty="0"/>
                        <a:t>: 1.0000</a:t>
                      </a:r>
                    </a:p>
                    <a:p>
                      <a:pPr algn="ctr">
                        <a:buNone/>
                      </a:pPr>
                      <a:r>
                        <a:rPr lang="en-US" sz="1600" b="1" dirty="0"/>
                        <a:t>Rec</a:t>
                      </a:r>
                      <a:r>
                        <a:rPr lang="en-US" sz="1600" dirty="0"/>
                        <a:t>: 1.0000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Acc</a:t>
                      </a:r>
                      <a:r>
                        <a:rPr lang="en-US" sz="1600" dirty="0"/>
                        <a:t>: 0.992</a:t>
                      </a:r>
                    </a:p>
                    <a:p>
                      <a:pPr algn="ctr">
                        <a:buNone/>
                      </a:pPr>
                      <a:r>
                        <a:rPr lang="en-US" sz="1600" b="1" dirty="0" err="1"/>
                        <a:t>Prec</a:t>
                      </a:r>
                      <a:r>
                        <a:rPr lang="en-US" sz="1600" dirty="0"/>
                        <a:t>: 0.9130</a:t>
                      </a:r>
                    </a:p>
                    <a:p>
                      <a:pPr algn="ctr">
                        <a:buNone/>
                      </a:pPr>
                      <a:r>
                        <a:rPr lang="en-US" sz="1600" b="1" dirty="0"/>
                        <a:t>Rec</a:t>
                      </a:r>
                      <a:r>
                        <a:rPr lang="en-US" sz="1600" dirty="0"/>
                        <a:t>: 0.9130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Acc</a:t>
                      </a:r>
                      <a:r>
                        <a:rPr lang="en-US" sz="1600" dirty="0"/>
                        <a:t>: 0.984</a:t>
                      </a:r>
                    </a:p>
                    <a:p>
                      <a:pPr algn="ctr">
                        <a:buNone/>
                      </a:pPr>
                      <a:r>
                        <a:rPr lang="en-US" sz="1600" b="1" dirty="0" err="1"/>
                        <a:t>Prec</a:t>
                      </a:r>
                      <a:r>
                        <a:rPr lang="en-US" sz="1600" dirty="0"/>
                        <a:t>: 0.7917</a:t>
                      </a:r>
                    </a:p>
                    <a:p>
                      <a:pPr algn="ctr">
                        <a:buNone/>
                      </a:pPr>
                      <a:r>
                        <a:rPr lang="en-US" sz="1600" b="1" dirty="0"/>
                        <a:t>Rec</a:t>
                      </a:r>
                      <a:r>
                        <a:rPr lang="en-US" sz="1600" dirty="0"/>
                        <a:t>: 0.8636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359255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Selecting the best model based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Based on validation set performance, the degree 5 polynomial logistic regression is the best model offering the best trade-off between training performance and generalization.</a:t>
            </a:r>
          </a:p>
          <a:p>
            <a:endParaRPr lang="en-US" dirty="0"/>
          </a:p>
          <a:p>
            <a:r>
              <a:rPr lang="en-US" dirty="0"/>
              <a:t>the ROC curve is close to the top-left corner,</a:t>
            </a:r>
            <a:br>
              <a:rPr lang="en-US" dirty="0"/>
            </a:br>
            <a:r>
              <a:rPr lang="en-US" dirty="0"/>
              <a:t>indicating strong discriminative ability</a:t>
            </a:r>
            <a:br>
              <a:rPr lang="en-US" dirty="0"/>
            </a:br>
            <a:r>
              <a:rPr lang="en-US" dirty="0"/>
              <a:t>between churn and non-churn customers.</a:t>
            </a:r>
          </a:p>
          <a:p>
            <a:endParaRPr lang="en-US" dirty="0"/>
          </a:p>
          <a:p>
            <a:r>
              <a:rPr lang="en-US" dirty="0"/>
              <a:t>The AUC value (Area Under the Curve) is </a:t>
            </a:r>
            <a:r>
              <a:rPr lang="en-US" sz="2000" b="1" dirty="0"/>
              <a:t>0.99</a:t>
            </a:r>
            <a:r>
              <a:rPr lang="en-US" dirty="0"/>
              <a:t>, confirming excellent performance on the </a:t>
            </a:r>
            <a:br>
              <a:rPr lang="en-US" dirty="0"/>
            </a:br>
            <a:r>
              <a:rPr lang="en-US" dirty="0"/>
              <a:t>validation set.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F7F18F-AD38-FA1C-BBD5-440756B77265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/>
          <a:stretch>
            <a:fillRect/>
          </a:stretch>
        </p:blipFill>
        <p:spPr>
          <a:xfrm>
            <a:off x="6800356" y="2582998"/>
            <a:ext cx="5391644" cy="411829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Jouwana</a:t>
            </a:r>
            <a:r>
              <a:rPr lang="en-US" dirty="0"/>
              <a:t> Daibes 1210123</a:t>
            </a:r>
          </a:p>
          <a:p>
            <a:r>
              <a:rPr lang="en-US" dirty="0"/>
              <a:t>Emil Khoury      1211223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</TotalTime>
  <Words>881</Words>
  <Application>Microsoft Office PowerPoint</Application>
  <PresentationFormat>Widescreen</PresentationFormat>
  <Paragraphs>139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Arial Black</vt:lpstr>
      <vt:lpstr>Calibri</vt:lpstr>
      <vt:lpstr>Cambria Math</vt:lpstr>
      <vt:lpstr>menlo</vt:lpstr>
      <vt:lpstr>Sabon Next LT</vt:lpstr>
      <vt:lpstr>Wingdings</vt:lpstr>
      <vt:lpstr>Custom</vt:lpstr>
      <vt:lpstr>Assignment #2 Machine Learning and Data Science - ENCS5341</vt:lpstr>
      <vt:lpstr>agenda</vt:lpstr>
      <vt:lpstr>Part 1 – Non-Linear Regression:</vt:lpstr>
      <vt:lpstr>A) Generating the dataset S</vt:lpstr>
      <vt:lpstr>Fitting Ridge regression models</vt:lpstr>
      <vt:lpstr>Computing generalization error (MSE vs true function) for each λ</vt:lpstr>
      <vt:lpstr>RBF Basis Functions</vt:lpstr>
      <vt:lpstr>Non-linear regression using RBF basis functions</vt:lpstr>
      <vt:lpstr>Part 2 – Logistic Regression:</vt:lpstr>
      <vt:lpstr>Fitting Logistic Regression with a linear decision boundary</vt:lpstr>
      <vt:lpstr>PowerPoint Presentation</vt:lpstr>
      <vt:lpstr>Logistic Regression with a non-linear  decision boundary using polynomial features</vt:lpstr>
      <vt:lpstr>Logistic Regression  Model Evaluation</vt:lpstr>
      <vt:lpstr>Selecting the best model based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كندة مجدي نجيب دعيبس</dc:creator>
  <cp:lastModifiedBy>كندة مجدي نجيب دعيبس</cp:lastModifiedBy>
  <cp:revision>33</cp:revision>
  <dcterms:created xsi:type="dcterms:W3CDTF">2025-11-25T16:45:08Z</dcterms:created>
  <dcterms:modified xsi:type="dcterms:W3CDTF">2025-12-10T11:21:33Z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